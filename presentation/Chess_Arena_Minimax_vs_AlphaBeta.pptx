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sanjay" userId="dd5d676f53644051" providerId="LiveId" clId="{03EC10B9-460B-4EAD-AB73-A0942B88F140}"/>
    <pc:docChg chg="modSld">
      <pc:chgData name="nikhil sanjay" userId="dd5d676f53644051" providerId="LiveId" clId="{03EC10B9-460B-4EAD-AB73-A0942B88F140}" dt="2026-10-06T09:58:00.119" v="70" actId="20577"/>
      <pc:docMkLst>
        <pc:docMk/>
      </pc:docMkLst>
      <pc:sldChg chg="modSp mod">
        <pc:chgData name="nikhil sanjay" userId="dd5d676f53644051" providerId="LiveId" clId="{03EC10B9-460B-4EAD-AB73-A0942B88F140}" dt="2026-10-06T09:58:00.119" v="70" actId="20577"/>
        <pc:sldMkLst>
          <pc:docMk/>
          <pc:sldMk cId="0" sldId="256"/>
        </pc:sldMkLst>
        <pc:spChg chg="mod">
          <ac:chgData name="nikhil sanjay" userId="dd5d676f53644051" providerId="LiveId" clId="{03EC10B9-460B-4EAD-AB73-A0942B88F140}" dt="2026-10-06T09:58:00.119" v="70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 i="0">
                <a:solidFill>
                  <a:srgbClr val="FFFFFF"/>
                </a:solidFill>
              </a:defRPr>
            </a:pPr>
            <a:r>
              <a:t>Multi-Agent Chess Arena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 i="0">
                <a:solidFill>
                  <a:srgbClr val="FFFFFF"/>
                </a:solidFill>
              </a:defRPr>
            </a:pPr>
            <a:r>
              <a:t>A Minimax Agent vs. an Alpha-Beta Pruning Agent with Heuristic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BBCCEE"/>
                </a:solidFill>
              </a:defRPr>
            </a:pPr>
            <a:r>
              <a:t>23CSE401 Fundamentals of Artificial Intelligence ·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BBCCEE"/>
                </a:solidFill>
              </a:defRPr>
            </a:pPr>
            <a:r>
              <a:rPr dirty="0"/>
              <a:t>Name:</a:t>
            </a:r>
            <a:r>
              <a:rPr lang="en-IN" dirty="0"/>
              <a:t> Nikhil Sanjay</a:t>
            </a:r>
            <a:r>
              <a:rPr dirty="0"/>
              <a:t>     Roll No.: </a:t>
            </a:r>
            <a:r>
              <a:rPr lang="en-IN"/>
              <a:t>BL.EN.U4CSE23239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•  Two AI agents play full chess games against each other in an arena</a:t>
            </a:r>
          </a:p>
          <a:p>
            <a:pPr lvl="1">
              <a:spcAft>
                <a:spcPts val="600"/>
              </a:spcAft>
              <a:defRPr sz="1700"/>
            </a:pPr>
            <a:r>
              <a:t>–  Agent 1: Minimax, which looks at every move sequence up to depth d</a:t>
            </a:r>
          </a:p>
          <a:p>
            <a:pPr lvl="1">
              <a:spcAft>
                <a:spcPts val="600"/>
              </a:spcAft>
              <a:defRPr sz="1700"/>
            </a:pPr>
            <a:r>
              <a:t>–  Agent 2: Alpha-Beta, the same search but it skips branches that cannot matter</a:t>
            </a:r>
          </a:p>
          <a:p>
            <a:pPr>
              <a:spcAft>
                <a:spcPts val="600"/>
              </a:spcAft>
              <a:defRPr sz="2000"/>
            </a:pPr>
            <a:r>
              <a:t>•  Both use the SAME heuristic evaluation (material + piece-square tables)</a:t>
            </a:r>
          </a:p>
          <a:p>
            <a:pPr>
              <a:spcAft>
                <a:spcPts val="600"/>
              </a:spcAft>
              <a:defRPr sz="2000"/>
            </a:pPr>
            <a:r>
              <a:t>•  Each agent's goal: maximise its own outcome (win &gt; draw &gt; loss); one agent's gain is the other's loss</a:t>
            </a:r>
          </a:p>
          <a:p>
            <a:pPr>
              <a:spcAft>
                <a:spcPts val="600"/>
              </a:spcAft>
              <a:defRPr sz="2000"/>
            </a:pPr>
            <a:r>
              <a:t>•  Interaction: strictly alternating moves on a shared board; every move changes the opponent's options</a:t>
            </a:r>
          </a:p>
          <a:p>
            <a:pPr>
              <a:spcAft>
                <a:spcPts val="600"/>
              </a:spcAft>
              <a:defRPr sz="2000"/>
            </a:pPr>
            <a:r>
              <a:t>•  Questions: Do both agents choose equally good moves? How much work does pruning save? What does that saving buy in actual games?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PEAS and Environment Properties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5760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PEAS</a:t>
                      </a:r>
                    </a:p>
                  </a:txBody>
                  <a:tcPr>
                    <a:solidFill>
                      <a:srgbClr val="2A6F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Chess arena</a:t>
                      </a:r>
                    </a:p>
                  </a:txBody>
                  <a:tcPr>
                    <a:solidFill>
                      <a:srgbClr val="2A6F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Win / draw / loss; material balance; nodes and time per move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8×8 board, 32 pieces, the opponent agent, rules of chess (python-chess)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Actuators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Choose one legal move per turn (incl. castling, en passant, promotion)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Sensors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Full board state (FEN), side to move, legal moves, check / mate / draw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92240" y="1280160"/>
          <a:ext cx="53035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2A6F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A6F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Observable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Fully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Deterministic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Yes (no dice, no hidden cards)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Episodic?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Sequential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Static?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Static (turn-based)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Discrete?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Discrete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Multi-agent, competitive, zero-sum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Known?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Known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Type of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•  Utility-based, model-based agent with adversarial look-ahead</a:t>
            </a:r>
          </a:p>
          <a:p>
            <a:pPr lvl="1">
              <a:spcAft>
                <a:spcPts val="600"/>
              </a:spcAft>
              <a:defRPr sz="1700"/>
            </a:pPr>
            <a:r>
              <a:t>–  Model: the rules of chess predict the result of every move (transition model)</a:t>
            </a:r>
          </a:p>
          <a:p>
            <a:pPr lvl="1">
              <a:spcAft>
                <a:spcPts val="600"/>
              </a:spcAft>
              <a:defRPr sz="1700"/>
            </a:pPr>
            <a:r>
              <a:t>–  Utility: the heuristic evaluation estimates how good a position is for White</a:t>
            </a:r>
          </a:p>
          <a:p>
            <a:pPr lvl="1">
              <a:spcAft>
                <a:spcPts val="600"/>
              </a:spcAft>
              <a:defRPr sz="1700"/>
            </a:pPr>
            <a:r>
              <a:t>–  Goal-based alone is not enough: checkmate is usually too far away to see, so positions must be scored</a:t>
            </a:r>
          </a:p>
          <a:p>
            <a:pPr>
              <a:spcAft>
                <a:spcPts val="600"/>
              </a:spcAft>
              <a:defRPr sz="2000"/>
            </a:pPr>
            <a:r>
              <a:t>•  Competitive, zero-sum: White maximises the evaluation and Black minimises it</a:t>
            </a:r>
          </a:p>
          <a:p>
            <a:pPr lvl="1">
              <a:spcAft>
                <a:spcPts val="600"/>
              </a:spcAft>
              <a:defRPr sz="1700"/>
            </a:pPr>
            <a:r>
              <a:t>–  Each agent assumes the opponent plays its best reply, which is exactly what minimax models</a:t>
            </a:r>
          </a:p>
          <a:p>
            <a:pPr>
              <a:spcAft>
                <a:spcPts val="600"/>
              </a:spcAft>
              <a:defRPr sz="2000"/>
            </a:pPr>
            <a:r>
              <a:t>•  Why not a reflex agent? Grabbing material greedily walks into traps (E1, E2)</a:t>
            </a:r>
          </a:p>
          <a:p>
            <a:pPr>
              <a:spcAft>
                <a:spcPts val="600"/>
              </a:spcAft>
              <a:defRPr sz="2000"/>
            </a:pPr>
            <a:r>
              <a:t>•  Rational within bounded depth: only as good as its search horizon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Heuristic Evaluation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•  eval(s) = Σ White (piece value + square bonus) − Σ Black (piece value + square bonus)</a:t>
            </a:r>
          </a:p>
          <a:p>
            <a:pPr>
              <a:spcAft>
                <a:spcPts val="600"/>
              </a:spcAft>
              <a:defRPr sz="2000"/>
            </a:pPr>
            <a:r>
              <a:t>•  Piece values (centipawns): P 100, N 320, B 330, R 500, Q 900</a:t>
            </a:r>
          </a:p>
          <a:p>
            <a:pPr>
              <a:spcAft>
                <a:spcPts val="600"/>
              </a:spcAft>
              <a:defRPr sz="2000"/>
            </a:pPr>
            <a:r>
              <a:t>•  Piece-square tables reward central knights, advanced pawns, a castled king, …</a:t>
            </a:r>
          </a:p>
          <a:p>
            <a:pPr>
              <a:spcAft>
                <a:spcPts val="600"/>
              </a:spcAft>
              <a:defRPr sz="2000"/>
            </a:pPr>
            <a:r>
              <a:t>•  Terminal positions are scored exactly:</a:t>
            </a:r>
          </a:p>
          <a:p>
            <a:pPr lvl="1">
              <a:spcAft>
                <a:spcPts val="600"/>
              </a:spcAft>
              <a:defRPr sz="1700"/>
            </a:pPr>
            <a:r>
              <a:t>–  Checkmate = ±(100000 − ply), so a faster mate scores higher</a:t>
            </a:r>
          </a:p>
          <a:p>
            <a:pPr lvl="1">
              <a:spcAft>
                <a:spcPts val="600"/>
              </a:spcAft>
              <a:defRPr sz="1700"/>
            </a:pPr>
            <a:r>
              <a:t>–  Stalemate and insufficient material = 0</a:t>
            </a:r>
          </a:p>
          <a:p>
            <a:pPr>
              <a:spcAft>
                <a:spcPts val="600"/>
              </a:spcAft>
              <a:defRPr sz="2000"/>
            </a:pPr>
            <a:r>
              <a:t>•  Same function for both agents, so any difference comes from the SEARCH alone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Search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 i="0">
                <a:solidFill>
                  <a:srgbClr val="2A6FDB"/>
                </a:solidFill>
              </a:defRPr>
            </a:pPr>
            <a:r>
              <a:t>Minimax (depth-limited)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/>
            </a:pPr>
            <a:r>
              <a:t>•  Depth-first over the game tree to depth d</a:t>
            </a:r>
          </a:p>
          <a:p>
            <a:pPr>
              <a:spcAft>
                <a:spcPts val="600"/>
              </a:spcAft>
              <a:defRPr sz="1700"/>
            </a:pPr>
            <a:r>
              <a:t>•  MAX (White) takes the max of its children and MIN (Black) the min</a:t>
            </a:r>
          </a:p>
          <a:p>
            <a:pPr>
              <a:spcAft>
                <a:spcPts val="600"/>
              </a:spcAft>
              <a:defRPr sz="1700"/>
            </a:pPr>
            <a:r>
              <a:t>•  Leaves are scored with the heuristic</a:t>
            </a:r>
          </a:p>
          <a:p>
            <a:pPr>
              <a:spcAft>
                <a:spcPts val="600"/>
              </a:spcAft>
              <a:defRPr sz="1700"/>
            </a:pPr>
            <a:r>
              <a:t>•  Visits every node: O(b^d) time, O(b·d)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 i="0">
                <a:solidFill>
                  <a:srgbClr val="E0552B"/>
                </a:solidFill>
              </a:defRPr>
            </a:pPr>
            <a:r>
              <a:t>Alpha-Beta pruning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/>
            </a:pPr>
            <a:r>
              <a:t>•  Carries α (best for MAX so far) and β (best for MIN so far)</a:t>
            </a:r>
          </a:p>
          <a:p>
            <a:pPr>
              <a:spcAft>
                <a:spcPts val="600"/>
              </a:spcAft>
              <a:defRPr sz="1700"/>
            </a:pPr>
            <a:r>
              <a:t>•  If α ≥ β, the opponent will never allow this line, so the remaining moves are skipped</a:t>
            </a:r>
          </a:p>
          <a:p>
            <a:pPr>
              <a:spcAft>
                <a:spcPts val="600"/>
              </a:spcAft>
              <a:defRPr sz="1700"/>
            </a:pPr>
            <a:r>
              <a:t>•  Returns EXACTLY the minimax value</a:t>
            </a:r>
          </a:p>
          <a:p>
            <a:pPr>
              <a:spcAft>
                <a:spcPts val="600"/>
              </a:spcAft>
              <a:defRPr sz="1700"/>
            </a:pPr>
            <a:r>
              <a:t>•  Move ordering (captures first, MVV-LVA) finds cut-offs early</a:t>
            </a:r>
          </a:p>
          <a:p>
            <a:pPr>
              <a:spcAft>
                <a:spcPts val="600"/>
              </a:spcAft>
              <a:defRPr sz="1700"/>
            </a:pPr>
            <a:r>
              <a:t>•  Best case O(b^(d/2)), worst case O(b^d)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Search Tree: Where Pruning Happens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1">
                <a:solidFill>
                  <a:srgbClr val="555555"/>
                </a:solidFill>
              </a:defRPr>
            </a:pPr>
            <a:r>
              <a:t>King+pawn endgame, depth 2, same move order for both searches</a:t>
            </a:r>
          </a:p>
        </p:txBody>
      </p:sp>
      <p:pic>
        <p:nvPicPr>
          <p:cNvPr id="4" name="Picture 3" descr="search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30000" cy="43993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555555"/>
                </a:solidFill>
              </a:defRPr>
            </a:pPr>
            <a:r>
              <a:t>Minimax visits 51 positions; alpha-beta visits 36; both return value 120.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Nodes Searched vs.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1">
                <a:solidFill>
                  <a:srgbClr val="555555"/>
                </a:solidFill>
              </a:defRPr>
            </a:pPr>
            <a:r>
              <a:t>Alpha-beta always returned the same value as minimax (checked by assert)</a:t>
            </a:r>
          </a:p>
        </p:txBody>
      </p:sp>
      <p:pic>
        <p:nvPicPr>
          <p:cNvPr id="4" name="Picture 3" descr="nodes_vs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7498079" cy="272657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863840" y="1645920"/>
          <a:ext cx="4114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>
                    <a:solidFill>
                      <a:srgbClr val="2A6F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Minimax</a:t>
                      </a:r>
                    </a:p>
                  </a:txBody>
                  <a:tcPr>
                    <a:solidFill>
                      <a:srgbClr val="2A6F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Alpha-beta</a:t>
                      </a:r>
                    </a:p>
                  </a:txBody>
                  <a:tcPr>
                    <a:solidFill>
                      <a:srgbClr val="2A6F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Saved</a:t>
                      </a:r>
                    </a:p>
                  </a:txBody>
                  <a:tcPr>
                    <a:solidFill>
                      <a:srgbClr val="2A6F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Start 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206,604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3,109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98.5%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Italian opening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1,040,115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7,372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99.3%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Middlegame (E1)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4,701,529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34,023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99.3%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Knight fork (W2)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29,745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99.3%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Rook endgame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108,368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2,124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98.0%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6384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555555"/>
                </a:solidFill>
              </a:defRPr>
            </a:pPr>
            <a:r>
              <a:t>Depth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Working Cases</a:t>
            </a:r>
          </a:p>
        </p:txBody>
      </p:sp>
      <p:pic>
        <p:nvPicPr>
          <p:cNvPr id="3" name="Picture 2" descr="case_W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629465" cy="3931920"/>
          </a:xfrm>
          <a:prstGeom prst="rect">
            <a:avLst/>
          </a:prstGeom>
        </p:spPr>
      </p:pic>
      <p:pic>
        <p:nvPicPr>
          <p:cNvPr id="4" name="Picture 3" descr="case_W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3629465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12064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 i="0"/>
            </a:pPr>
            <a:r>
              <a:t>W1 Back-rank mate: both agents play Rd8# at every depth; the mate score is exact. At depth 3: 3,202 vs 419 nodes.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512064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 i="0"/>
            </a:pPr>
            <a:r>
              <a:t>W2 Knight fork: at depth 1-2 the fork is invisible (the rook capture is on ply 3). At depth 3 both play Nc7+ (value +340). Nodes: 1,923 vs 112.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Edge Cases: Horizon Effect and Stalemate Trap</a:t>
            </a:r>
          </a:p>
        </p:txBody>
      </p:sp>
      <p:pic>
        <p:nvPicPr>
          <p:cNvPr id="3" name="Picture 2" descr="case_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629465" cy="3931920"/>
          </a:xfrm>
          <a:prstGeom prst="rect">
            <a:avLst/>
          </a:prstGeom>
        </p:spPr>
      </p:pic>
      <p:pic>
        <p:nvPicPr>
          <p:cNvPr id="4" name="Picture 3" descr="case_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3629465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120640"/>
            <a:ext cx="5669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/>
            </a:pPr>
            <a:r>
              <a:t>E1 (position from an agent game): at depth 1-2 Black grabs a pawn with Bxc2, but Bf4 then pins the queen to the king and wins it two plies later. At depth ≥ 3 the agent sees this and plays Bg4.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5120640"/>
            <a:ext cx="557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/>
            </a:pPr>
            <a:r>
              <a:t>E2: Qxe6 wins a knight but is STALEMATE (value 0). A greedy material-counter plays Qxe6; both search agents play Qb8+ and find a forced mate.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Edge Case: Bad Move Ordering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1">
                <a:solidFill>
                  <a:srgbClr val="555555"/>
                </a:solidFill>
              </a:defRPr>
            </a:pPr>
            <a:r>
              <a:t>Alpha-beta's saving depends on examining good moves first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Italian opening, depth 4</a:t>
                      </a:r>
                    </a:p>
                  </a:txBody>
                  <a:tcPr>
                    <a:solidFill>
                      <a:srgbClr val="2A6F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Nodes</a:t>
                      </a:r>
                    </a:p>
                  </a:txBody>
                  <a:tcPr>
                    <a:solidFill>
                      <a:srgbClr val="2A6F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vs minimax</a:t>
                      </a:r>
                    </a:p>
                  </a:txBody>
                  <a:tcPr>
                    <a:solidFill>
                      <a:srgbClr val="2A6F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Minimax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1,040,115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Alpha-beta, reversed ordering (bad moves first)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403,780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38.8%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Alpha-beta, generator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13,879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1.3%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Alpha-beta, MVV-LVA ordering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7,372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0.7%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976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 Same value in every run: ordering changes only the work, never the answer</a:t>
            </a:r>
          </a:p>
          <a:p>
            <a:pPr>
              <a:spcAft>
                <a:spcPts val="600"/>
              </a:spcAft>
              <a:defRPr sz="1800"/>
            </a:pPr>
            <a:r>
              <a:t>•  With good moves first, one refutation is enough to prune the rest</a:t>
            </a:r>
          </a:p>
          <a:p>
            <a:pPr>
              <a:spcAft>
                <a:spcPts val="600"/>
              </a:spcAft>
              <a:defRPr sz="1800"/>
            </a:pPr>
            <a:r>
              <a:t>•  With bad moves first, cut-offs come late and alpha-beta approaches minimax, towards O(b^d)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Arena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1">
                <a:solidFill>
                  <a:srgbClr val="555555"/>
                </a:solidFill>
              </a:defRPr>
            </a:pPr>
            <a:r>
              <a:t>6 openings × both colours, 100-ply limit</a:t>
            </a:r>
          </a:p>
        </p:txBody>
      </p:sp>
      <p:pic>
        <p:nvPicPr>
          <p:cNvPr id="4" name="Picture 3" descr="ar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6949440" cy="250179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06640" y="1645920"/>
          <a:ext cx="4572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Match</a:t>
                      </a:r>
                    </a:p>
                  </a:txBody>
                  <a:tcPr>
                    <a:solidFill>
                      <a:srgbClr val="2A6F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AB W-D-L</a:t>
                      </a:r>
                    </a:p>
                  </a:txBody>
                  <a:tcPr>
                    <a:solidFill>
                      <a:srgbClr val="2A6F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MM nodes/move</a:t>
                      </a:r>
                    </a:p>
                  </a:txBody>
                  <a:tcPr>
                    <a:solidFill>
                      <a:srgbClr val="2A6F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AB nodes/move</a:t>
                      </a:r>
                    </a:p>
                  </a:txBody>
                  <a:tcPr>
                    <a:solidFill>
                      <a:srgbClr val="2A6F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A: MM d2 vs AB 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3-3-6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1,381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B: MM d2 vs AB 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6-5-1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1,206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2,214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06640" y="31089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•  Equal depth: in 636 replayed positions both agents' moves had the SAME value (100%) and were identical in 98.7%; the score comes only from tie-breaks</a:t>
            </a:r>
          </a:p>
          <a:p>
            <a:pPr>
              <a:spcAft>
                <a:spcPts val="600"/>
              </a:spcAft>
              <a:defRPr sz="1500"/>
            </a:pPr>
            <a:r>
              <a:t>•  Alpha-beta at depth 3 costs less than 2× minimax's nodes at depth 2, and the extra ply wins games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Complexity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2A6F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2A6F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Space</a:t>
                      </a:r>
                    </a:p>
                  </a:txBody>
                  <a:tcPr>
                    <a:solidFill>
                      <a:srgbClr val="2A6F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Chess (b ≈ 35)</a:t>
                      </a:r>
                    </a:p>
                  </a:txBody>
                  <a:tcPr>
                    <a:solidFill>
                      <a:srgbClr val="2A6F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Minimax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O(b^d)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O(b·d)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d=4: ≈ 1.5 million leaves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Alpha-beta, best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O(b^(d/2))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O(b·d)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d=4: ≈ 2,450 leaves; twice the depth for the same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Alpha-beta, worst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O(b^d)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O(b·d)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no better than minimax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29184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 Measured, start position (b = 20), depth 4: minimax 206,604 nodes, alpha-beta 3,109</a:t>
            </a:r>
          </a:p>
          <a:p>
            <a:pPr>
              <a:spcAft>
                <a:spcPts val="600"/>
              </a:spcAft>
              <a:defRPr sz="1800"/>
            </a:pPr>
            <a:r>
              <a:t>•  Each extra ply multiplies minimax's work by about b (20-40×), and alpha-beta's by about √b</a:t>
            </a:r>
          </a:p>
          <a:p>
            <a:pPr>
              <a:spcAft>
                <a:spcPts val="600"/>
              </a:spcAft>
              <a:defRPr sz="1800"/>
            </a:pPr>
            <a:r>
              <a:t>•  Full chess tree ≈ 10^120 nodes (Shannon), so any agent must cut off at depth d and use a heuristic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Comparison and Key Observations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2A6F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Minimax</a:t>
                      </a:r>
                    </a:p>
                  </a:txBody>
                  <a:tcPr>
                    <a:solidFill>
                      <a:srgbClr val="2A6F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Alpha-Beta</a:t>
                      </a:r>
                    </a:p>
                  </a:txBody>
                  <a:tcPr>
                    <a:solidFill>
                      <a:srgbClr val="2A6F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Decision quality at equal 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Optimal w.r.t. heuristic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Identical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Nodes at depth 4 (avg of 5 positions)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1,217,272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9,370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Sensitive to move ordering?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Yes (E3)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Horizon effect?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Yes, but it can search deeper and so push the horizon 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Practical depth in Python (~1 s/move)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≈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≈ 4-5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0624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 Pruning is free accuracy-wise: it removes work, not information</a:t>
            </a:r>
          </a:p>
          <a:p>
            <a:pPr>
              <a:spcAft>
                <a:spcPts val="600"/>
              </a:spcAft>
              <a:defRPr sz="1800"/>
            </a:pPr>
            <a:r>
              <a:t>•  Depth matters more than anything else: the deeper agent avoids traps (E1) and finds tactics (W2)</a:t>
            </a:r>
          </a:p>
          <a:p>
            <a:pPr>
              <a:spcAft>
                <a:spcPts val="600"/>
              </a:spcAft>
              <a:defRPr sz="1800"/>
            </a:pPr>
            <a:r>
              <a:t>•  Limitations: horizon effect, a heuristic blind to king safety and mobility, exponential growth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•  Chess is a fully observable, deterministic, sequential, competitive two-agent environment, which is ideal for adversarial search</a:t>
            </a:r>
          </a:p>
          <a:p>
            <a:pPr>
              <a:spcAft>
                <a:spcPts val="600"/>
              </a:spcAft>
              <a:defRPr sz="2000"/>
            </a:pPr>
            <a:r>
              <a:t>•  Minimax and alpha-beta agents with the same evaluation choose moves of the same value; alpha-beta does it with 1-2 orders of magnitude less work</a:t>
            </a:r>
          </a:p>
          <a:p>
            <a:pPr>
              <a:spcAft>
                <a:spcPts val="600"/>
              </a:spcAft>
              <a:defRPr sz="2000"/>
            </a:pPr>
            <a:r>
              <a:t>•  Good move ordering is what makes the pruning effective</a:t>
            </a:r>
          </a:p>
          <a:p>
            <a:pPr>
              <a:spcAft>
                <a:spcPts val="600"/>
              </a:spcAft>
              <a:defRPr sz="2000"/>
            </a:pPr>
            <a:r>
              <a:t>•  In the arena, the saved effort becomes extra depth, and extra depth becomes wins</a:t>
            </a:r>
          </a:p>
          <a:p>
            <a:pPr>
              <a:spcAft>
                <a:spcPts val="600"/>
              </a:spcAft>
              <a:defRPr sz="2000"/>
            </a:pPr>
            <a:r>
              <a:t>•  Next steps: iterative deepening, quiescence search (fixes the horizon effect), transposition tables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1447</Words>
  <Application>Microsoft Office PowerPoint</Application>
  <PresentationFormat>Widescreen</PresentationFormat>
  <Paragraphs>186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nikhil sanjay</cp:lastModifiedBy>
  <cp:revision>1</cp:revision>
  <dcterms:created xsi:type="dcterms:W3CDTF">2013-01-27T09:14:16Z</dcterms:created>
  <dcterms:modified xsi:type="dcterms:W3CDTF">2026-10-06T09:58:01Z</dcterms:modified>
  <cp:category/>
</cp:coreProperties>
</file>